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001"/>
    <a:srgbClr val="FE0080"/>
    <a:srgbClr val="328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997EE-DE19-4F0C-ACBD-B95BB59DEC91}" v="48" dt="2025-10-19T22:48:32.84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702"/>
  </p:normalViewPr>
  <p:slideViewPr>
    <p:cSldViewPr snapToGrid="0" snapToObjects="1">
      <p:cViewPr>
        <p:scale>
          <a:sx n="50" d="100"/>
          <a:sy n="50" d="100"/>
        </p:scale>
        <p:origin x="12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by Ford" userId="9b2f997e-ddcc-4945-ad79-261250ebf375" providerId="ADAL" clId="{43506ECA-99C9-48B3-ADF2-A3FA5A2C75A4}"/>
    <pc:docChg chg="undo custSel modSld">
      <pc:chgData name="Colby Ford" userId="9b2f997e-ddcc-4945-ad79-261250ebf375" providerId="ADAL" clId="{43506ECA-99C9-48B3-ADF2-A3FA5A2C75A4}" dt="2025-10-19T22:49:09.941" v="929" actId="1076"/>
      <pc:docMkLst>
        <pc:docMk/>
      </pc:docMkLst>
      <pc:sldChg chg="addSp delSp modSp mod">
        <pc:chgData name="Colby Ford" userId="9b2f997e-ddcc-4945-ad79-261250ebf375" providerId="ADAL" clId="{43506ECA-99C9-48B3-ADF2-A3FA5A2C75A4}" dt="2025-10-19T22:49:09.941" v="929" actId="1076"/>
        <pc:sldMkLst>
          <pc:docMk/>
          <pc:sldMk cId="0" sldId="256"/>
        </pc:sldMkLst>
        <pc:spChg chg="mod">
          <ac:chgData name="Colby Ford" userId="9b2f997e-ddcc-4945-ad79-261250ebf375" providerId="ADAL" clId="{43506ECA-99C9-48B3-ADF2-A3FA5A2C75A4}" dt="2025-10-19T22:42:13.309" v="907" actId="207"/>
          <ac:spMkLst>
            <pc:docMk/>
            <pc:sldMk cId="0" sldId="256"/>
            <ac:spMk id="3" creationId="{99E35E94-129A-FE8B-58FE-5723BC884C47}"/>
          </ac:spMkLst>
        </pc:spChg>
        <pc:spChg chg="add del mod">
          <ac:chgData name="Colby Ford" userId="9b2f997e-ddcc-4945-ad79-261250ebf375" providerId="ADAL" clId="{43506ECA-99C9-48B3-ADF2-A3FA5A2C75A4}" dt="2025-10-19T22:16:42.761" v="402" actId="478"/>
          <ac:spMkLst>
            <pc:docMk/>
            <pc:sldMk cId="0" sldId="256"/>
            <ac:spMk id="8" creationId="{4C5D3926-DA3A-F90B-ECA3-5ADEFDDDA2E1}"/>
          </ac:spMkLst>
        </pc:spChg>
        <pc:spChg chg="add del mod">
          <ac:chgData name="Colby Ford" userId="9b2f997e-ddcc-4945-ad79-261250ebf375" providerId="ADAL" clId="{43506ECA-99C9-48B3-ADF2-A3FA5A2C75A4}" dt="2025-10-19T22:16:43.414" v="403" actId="478"/>
          <ac:spMkLst>
            <pc:docMk/>
            <pc:sldMk cId="0" sldId="256"/>
            <ac:spMk id="9" creationId="{5600FDB4-0044-F5D3-48EB-75D4B9FD93EB}"/>
          </ac:spMkLst>
        </pc:spChg>
        <pc:spChg chg="add del mod">
          <ac:chgData name="Colby Ford" userId="9b2f997e-ddcc-4945-ad79-261250ebf375" providerId="ADAL" clId="{43506ECA-99C9-48B3-ADF2-A3FA5A2C75A4}" dt="2025-10-19T22:16:43.877" v="404" actId="478"/>
          <ac:spMkLst>
            <pc:docMk/>
            <pc:sldMk cId="0" sldId="256"/>
            <ac:spMk id="10" creationId="{C2F6986C-7B35-58C9-3634-4F4759306126}"/>
          </ac:spMkLst>
        </pc:spChg>
        <pc:spChg chg="add mod">
          <ac:chgData name="Colby Ford" userId="9b2f997e-ddcc-4945-ad79-261250ebf375" providerId="ADAL" clId="{43506ECA-99C9-48B3-ADF2-A3FA5A2C75A4}" dt="2025-10-19T22:15:23.688" v="356" actId="1076"/>
          <ac:spMkLst>
            <pc:docMk/>
            <pc:sldMk cId="0" sldId="256"/>
            <ac:spMk id="11" creationId="{334D3888-0D7B-2701-F3DF-4641650E2D1B}"/>
          </ac:spMkLst>
        </pc:spChg>
        <pc:spChg chg="add mod">
          <ac:chgData name="Colby Ford" userId="9b2f997e-ddcc-4945-ad79-261250ebf375" providerId="ADAL" clId="{43506ECA-99C9-48B3-ADF2-A3FA5A2C75A4}" dt="2025-10-19T22:40:32.056" v="856" actId="1035"/>
          <ac:spMkLst>
            <pc:docMk/>
            <pc:sldMk cId="0" sldId="256"/>
            <ac:spMk id="13" creationId="{5EAC9349-D265-D24E-7521-00A497DB1FAD}"/>
          </ac:spMkLst>
        </pc:spChg>
        <pc:spChg chg="add mod">
          <ac:chgData name="Colby Ford" userId="9b2f997e-ddcc-4945-ad79-261250ebf375" providerId="ADAL" clId="{43506ECA-99C9-48B3-ADF2-A3FA5A2C75A4}" dt="2025-10-19T22:32:59.404" v="560" actId="1076"/>
          <ac:spMkLst>
            <pc:docMk/>
            <pc:sldMk cId="0" sldId="256"/>
            <ac:spMk id="15" creationId="{530A2016-988C-D091-FBA9-B5E5A9C5B86B}"/>
          </ac:spMkLst>
        </pc:spChg>
        <pc:spChg chg="add del mod">
          <ac:chgData name="Colby Ford" userId="9b2f997e-ddcc-4945-ad79-261250ebf375" providerId="ADAL" clId="{43506ECA-99C9-48B3-ADF2-A3FA5A2C75A4}" dt="2025-10-19T22:27:29.937" v="484" actId="478"/>
          <ac:spMkLst>
            <pc:docMk/>
            <pc:sldMk cId="0" sldId="256"/>
            <ac:spMk id="19" creationId="{2832411D-5B0A-E9B7-BDF8-DF62F5DCD27E}"/>
          </ac:spMkLst>
        </pc:spChg>
        <pc:spChg chg="add del mod ord">
          <ac:chgData name="Colby Ford" userId="9b2f997e-ddcc-4945-ad79-261250ebf375" providerId="ADAL" clId="{43506ECA-99C9-48B3-ADF2-A3FA5A2C75A4}" dt="2025-10-19T22:42:20.004" v="908" actId="478"/>
          <ac:spMkLst>
            <pc:docMk/>
            <pc:sldMk cId="0" sldId="256"/>
            <ac:spMk id="20" creationId="{C417317F-2645-D54A-46A2-1C2045840492}"/>
          </ac:spMkLst>
        </pc:spChg>
        <pc:spChg chg="add mod ord">
          <ac:chgData name="Colby Ford" userId="9b2f997e-ddcc-4945-ad79-261250ebf375" providerId="ADAL" clId="{43506ECA-99C9-48B3-ADF2-A3FA5A2C75A4}" dt="2025-10-19T22:42:46.947" v="916" actId="14100"/>
          <ac:spMkLst>
            <pc:docMk/>
            <pc:sldMk cId="0" sldId="256"/>
            <ac:spMk id="22" creationId="{4CAE6238-1990-7C3D-8FE0-4DF00F0415A6}"/>
          </ac:spMkLst>
        </pc:spChg>
        <pc:spChg chg="mod">
          <ac:chgData name="Colby Ford" userId="9b2f997e-ddcc-4945-ad79-261250ebf375" providerId="ADAL" clId="{43506ECA-99C9-48B3-ADF2-A3FA5A2C75A4}" dt="2025-10-19T22:42:13.309" v="907" actId="207"/>
          <ac:spMkLst>
            <pc:docMk/>
            <pc:sldMk cId="0" sldId="256"/>
            <ac:spMk id="30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1:58:35.183" v="172" actId="12788"/>
          <ac:spMkLst>
            <pc:docMk/>
            <pc:sldMk cId="0" sldId="256"/>
            <ac:spMk id="33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2:40:32.056" v="856" actId="1035"/>
          <ac:spMkLst>
            <pc:docMk/>
            <pc:sldMk cId="0" sldId="256"/>
            <ac:spMk id="34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2:40:57.662" v="863" actId="123"/>
          <ac:spMkLst>
            <pc:docMk/>
            <pc:sldMk cId="0" sldId="256"/>
            <ac:spMk id="35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1:45:43.441" v="9" actId="1035"/>
          <ac:spMkLst>
            <pc:docMk/>
            <pc:sldMk cId="0" sldId="256"/>
            <ac:spMk id="37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1:59:12.563" v="181" actId="12788"/>
          <ac:spMkLst>
            <pc:docMk/>
            <pc:sldMk cId="0" sldId="256"/>
            <ac:spMk id="39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2:40:32.056" v="856" actId="1035"/>
          <ac:spMkLst>
            <pc:docMk/>
            <pc:sldMk cId="0" sldId="256"/>
            <ac:spMk id="41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2:14:01.549" v="337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2:15:56.792" v="398" actId="1035"/>
          <ac:spMkLst>
            <pc:docMk/>
            <pc:sldMk cId="0" sldId="256"/>
            <ac:spMk id="46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2:42:13.309" v="907" actId="207"/>
          <ac:spMkLst>
            <pc:docMk/>
            <pc:sldMk cId="0" sldId="256"/>
            <ac:spMk id="50" creationId="{00000000-0000-0000-0000-000000000000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39" creationId="{3011C1AD-E3E4-2323-AE47-A90785059A35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40" creationId="{33FB82F4-F2EF-E5A0-0954-A23866AF6246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42" creationId="{8173981F-384F-C0AB-848F-5DE1BC361452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43" creationId="{26BFF8FB-C166-5EFD-1BE5-5371038C8C9A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44" creationId="{5C9C81F3-DB0C-6300-B964-59820F206A57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45" creationId="{EFB267DB-DB32-3B86-7BC9-15A9EEFDFA59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47" creationId="{0816F534-F080-6B83-7008-B8A6C23F5D67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48" creationId="{4A2A29DA-9ABD-1623-CE07-50F923A221AC}"/>
          </ac:spMkLst>
        </pc:spChg>
        <pc:spChg chg="mod">
          <ac:chgData name="Colby Ford" userId="9b2f997e-ddcc-4945-ad79-261250ebf375" providerId="ADAL" clId="{43506ECA-99C9-48B3-ADF2-A3FA5A2C75A4}" dt="2025-10-19T21:54:28.744" v="125" actId="20577"/>
          <ac:spMkLst>
            <pc:docMk/>
            <pc:sldMk cId="0" sldId="256"/>
            <ac:spMk id="149" creationId="{E644A28F-FE0C-01B2-6E15-C68E5A38C843}"/>
          </ac:spMkLst>
        </pc:spChg>
        <pc:spChg chg="mod">
          <ac:chgData name="Colby Ford" userId="9b2f997e-ddcc-4945-ad79-261250ebf375" providerId="ADAL" clId="{43506ECA-99C9-48B3-ADF2-A3FA5A2C75A4}" dt="2025-10-19T21:54:12.140" v="120" actId="403"/>
          <ac:spMkLst>
            <pc:docMk/>
            <pc:sldMk cId="0" sldId="256"/>
            <ac:spMk id="151" creationId="{E3995D2D-500B-38E7-E165-592ED1A20464}"/>
          </ac:spMkLst>
        </pc:spChg>
        <pc:spChg chg="mod">
          <ac:chgData name="Colby Ford" userId="9b2f997e-ddcc-4945-ad79-261250ebf375" providerId="ADAL" clId="{43506ECA-99C9-48B3-ADF2-A3FA5A2C75A4}" dt="2025-10-19T22:16:02.626" v="399" actId="1076"/>
          <ac:spMkLst>
            <pc:docMk/>
            <pc:sldMk cId="0" sldId="256"/>
            <ac:spMk id="167" creationId="{45F45162-BAC9-C00A-941C-37B6B1544FEC}"/>
          </ac:spMkLst>
        </pc:spChg>
        <pc:spChg chg="mod">
          <ac:chgData name="Colby Ford" userId="9b2f997e-ddcc-4945-ad79-261250ebf375" providerId="ADAL" clId="{43506ECA-99C9-48B3-ADF2-A3FA5A2C75A4}" dt="2025-10-19T22:33:21.908" v="563" actId="208"/>
          <ac:spMkLst>
            <pc:docMk/>
            <pc:sldMk cId="0" sldId="256"/>
            <ac:spMk id="169" creationId="{19713B3F-F1B3-D76E-DCF3-3285BB164C5B}"/>
          </ac:spMkLst>
        </pc:spChg>
        <pc:spChg chg="mod">
          <ac:chgData name="Colby Ford" userId="9b2f997e-ddcc-4945-ad79-261250ebf375" providerId="ADAL" clId="{43506ECA-99C9-48B3-ADF2-A3FA5A2C75A4}" dt="2025-10-19T22:33:21.908" v="563" actId="208"/>
          <ac:spMkLst>
            <pc:docMk/>
            <pc:sldMk cId="0" sldId="256"/>
            <ac:spMk id="170" creationId="{28E388FA-1500-E181-D743-CE5B486F741E}"/>
          </ac:spMkLst>
        </pc:spChg>
        <pc:spChg chg="mod">
          <ac:chgData name="Colby Ford" userId="9b2f997e-ddcc-4945-ad79-261250ebf375" providerId="ADAL" clId="{43506ECA-99C9-48B3-ADF2-A3FA5A2C75A4}" dt="2025-10-19T22:33:21.908" v="563" actId="208"/>
          <ac:spMkLst>
            <pc:docMk/>
            <pc:sldMk cId="0" sldId="256"/>
            <ac:spMk id="171" creationId="{4CA463D3-AB1C-FB11-28A8-DF18891A6815}"/>
          </ac:spMkLst>
        </pc:spChg>
        <pc:spChg chg="mod">
          <ac:chgData name="Colby Ford" userId="9b2f997e-ddcc-4945-ad79-261250ebf375" providerId="ADAL" clId="{43506ECA-99C9-48B3-ADF2-A3FA5A2C75A4}" dt="2025-10-19T22:33:21.908" v="563" actId="208"/>
          <ac:spMkLst>
            <pc:docMk/>
            <pc:sldMk cId="0" sldId="256"/>
            <ac:spMk id="172" creationId="{3745BF3D-E023-8117-C482-1CE049443C4A}"/>
          </ac:spMkLst>
        </pc:spChg>
        <pc:spChg chg="mod">
          <ac:chgData name="Colby Ford" userId="9b2f997e-ddcc-4945-ad79-261250ebf375" providerId="ADAL" clId="{43506ECA-99C9-48B3-ADF2-A3FA5A2C75A4}" dt="2025-10-19T22:40:04.855" v="849" actId="2711"/>
          <ac:spMkLst>
            <pc:docMk/>
            <pc:sldMk cId="0" sldId="256"/>
            <ac:spMk id="173" creationId="{52EB8E64-4FBB-9B13-1C31-FE16179A71FA}"/>
          </ac:spMkLst>
        </pc:spChg>
        <pc:spChg chg="mod">
          <ac:chgData name="Colby Ford" userId="9b2f997e-ddcc-4945-ad79-261250ebf375" providerId="ADAL" clId="{43506ECA-99C9-48B3-ADF2-A3FA5A2C75A4}" dt="2025-10-19T22:28:21.323" v="508" actId="113"/>
          <ac:spMkLst>
            <pc:docMk/>
            <pc:sldMk cId="0" sldId="256"/>
            <ac:spMk id="174" creationId="{EA438375-FC8B-6FBF-499A-CA0229E9DCCC}"/>
          </ac:spMkLst>
        </pc:spChg>
        <pc:spChg chg="mod">
          <ac:chgData name="Colby Ford" userId="9b2f997e-ddcc-4945-ad79-261250ebf375" providerId="ADAL" clId="{43506ECA-99C9-48B3-ADF2-A3FA5A2C75A4}" dt="2025-10-19T22:40:04.855" v="849" actId="2711"/>
          <ac:spMkLst>
            <pc:docMk/>
            <pc:sldMk cId="0" sldId="256"/>
            <ac:spMk id="175" creationId="{554CBB28-3EB5-9085-E7F3-3F61B5FA0032}"/>
          </ac:spMkLst>
        </pc:spChg>
        <pc:spChg chg="mod">
          <ac:chgData name="Colby Ford" userId="9b2f997e-ddcc-4945-ad79-261250ebf375" providerId="ADAL" clId="{43506ECA-99C9-48B3-ADF2-A3FA5A2C75A4}" dt="2025-10-19T22:40:04.855" v="849" actId="2711"/>
          <ac:spMkLst>
            <pc:docMk/>
            <pc:sldMk cId="0" sldId="256"/>
            <ac:spMk id="176" creationId="{83415540-CF46-6035-4415-242D8D9EC407}"/>
          </ac:spMkLst>
        </pc:spChg>
        <pc:grpChg chg="mod">
          <ac:chgData name="Colby Ford" userId="9b2f997e-ddcc-4945-ad79-261250ebf375" providerId="ADAL" clId="{43506ECA-99C9-48B3-ADF2-A3FA5A2C75A4}" dt="2025-10-19T21:54:34.906" v="126" actId="14100"/>
          <ac:grpSpMkLst>
            <pc:docMk/>
            <pc:sldMk cId="0" sldId="256"/>
            <ac:grpSpMk id="138" creationId="{73AA0B15-6E54-A134-84FD-7937548A4BA0}"/>
          </ac:grpSpMkLst>
        </pc:grpChg>
        <pc:graphicFrameChg chg="add del mod">
          <ac:chgData name="Colby Ford" userId="9b2f997e-ddcc-4945-ad79-261250ebf375" providerId="ADAL" clId="{43506ECA-99C9-48B3-ADF2-A3FA5A2C75A4}" dt="2025-10-19T21:51:41.481" v="51" actId="478"/>
          <ac:graphicFrameMkLst>
            <pc:docMk/>
            <pc:sldMk cId="0" sldId="256"/>
            <ac:graphicFrameMk id="2" creationId="{36AE48A3-CDBB-0A3D-3D98-8E125B5AB041}"/>
          </ac:graphicFrameMkLst>
        </pc:graphicFrameChg>
        <pc:graphicFrameChg chg="add mod modGraphic">
          <ac:chgData name="Colby Ford" userId="9b2f997e-ddcc-4945-ad79-261250ebf375" providerId="ADAL" clId="{43506ECA-99C9-48B3-ADF2-A3FA5A2C75A4}" dt="2025-10-19T22:32:55.461" v="559" actId="1076"/>
          <ac:graphicFrameMkLst>
            <pc:docMk/>
            <pc:sldMk cId="0" sldId="256"/>
            <ac:graphicFrameMk id="14" creationId="{434142D5-D901-86FC-0E9B-86979FDB2BFB}"/>
          </ac:graphicFrameMkLst>
        </pc:graphicFrameChg>
        <pc:graphicFrameChg chg="mod ord">
          <ac:chgData name="Colby Ford" userId="9b2f997e-ddcc-4945-ad79-261250ebf375" providerId="ADAL" clId="{43506ECA-99C9-48B3-ADF2-A3FA5A2C75A4}" dt="2025-10-19T22:38:53.318" v="809" actId="167"/>
          <ac:graphicFrameMkLst>
            <pc:docMk/>
            <pc:sldMk cId="0" sldId="256"/>
            <ac:graphicFrameMk id="159" creationId="{DE010036-6C08-4A60-186C-A09C19121A8E}"/>
          </ac:graphicFrameMkLst>
        </pc:graphicFrameChg>
        <pc:graphicFrameChg chg="mod">
          <ac:chgData name="Colby Ford" userId="9b2f997e-ddcc-4945-ad79-261250ebf375" providerId="ADAL" clId="{43506ECA-99C9-48B3-ADF2-A3FA5A2C75A4}" dt="2025-10-19T22:16:11.362" v="400" actId="1076"/>
          <ac:graphicFrameMkLst>
            <pc:docMk/>
            <pc:sldMk cId="0" sldId="256"/>
            <ac:graphicFrameMk id="165" creationId="{E71CDB49-F92D-00BF-BAEC-B971898AF3E4}"/>
          </ac:graphicFrameMkLst>
        </pc:graphicFrameChg>
        <pc:picChg chg="add mod">
          <ac:chgData name="Colby Ford" userId="9b2f997e-ddcc-4945-ad79-261250ebf375" providerId="ADAL" clId="{43506ECA-99C9-48B3-ADF2-A3FA5A2C75A4}" dt="2025-10-19T22:33:11.039" v="562" actId="1076"/>
          <ac:picMkLst>
            <pc:docMk/>
            <pc:sldMk cId="0" sldId="256"/>
            <ac:picMk id="5" creationId="{53C97961-3F19-067F-C73C-7A7F2FC3D0F5}"/>
          </ac:picMkLst>
        </pc:picChg>
        <pc:picChg chg="add del mod">
          <ac:chgData name="Colby Ford" userId="9b2f997e-ddcc-4945-ad79-261250ebf375" providerId="ADAL" clId="{43506ECA-99C9-48B3-ADF2-A3FA5A2C75A4}" dt="2025-10-19T22:48:36.501" v="921" actId="478"/>
          <ac:picMkLst>
            <pc:docMk/>
            <pc:sldMk cId="0" sldId="256"/>
            <ac:picMk id="7" creationId="{52409E8E-18C7-7BA8-7DE9-F69DCE2D4852}"/>
          </ac:picMkLst>
        </pc:picChg>
        <pc:picChg chg="add mod">
          <ac:chgData name="Colby Ford" userId="9b2f997e-ddcc-4945-ad79-261250ebf375" providerId="ADAL" clId="{43506ECA-99C9-48B3-ADF2-A3FA5A2C75A4}" dt="2025-10-19T22:28:00.994" v="506" actId="1076"/>
          <ac:picMkLst>
            <pc:docMk/>
            <pc:sldMk cId="0" sldId="256"/>
            <ac:picMk id="17" creationId="{CB610147-7DC8-2891-79CB-5EA95C3A51E7}"/>
          </ac:picMkLst>
        </pc:picChg>
        <pc:picChg chg="add mod ord modCrop">
          <ac:chgData name="Colby Ford" userId="9b2f997e-ddcc-4945-ad79-261250ebf375" providerId="ADAL" clId="{43506ECA-99C9-48B3-ADF2-A3FA5A2C75A4}" dt="2025-10-19T22:38:43.837" v="807" actId="167"/>
          <ac:picMkLst>
            <pc:docMk/>
            <pc:sldMk cId="0" sldId="256"/>
            <ac:picMk id="21" creationId="{EFAAB7AC-2E22-CD20-1FF7-49F1548A6B47}"/>
          </ac:picMkLst>
        </pc:picChg>
        <pc:picChg chg="add mod">
          <ac:chgData name="Colby Ford" userId="9b2f997e-ddcc-4945-ad79-261250ebf375" providerId="ADAL" clId="{43506ECA-99C9-48B3-ADF2-A3FA5A2C75A4}" dt="2025-10-19T22:49:09.941" v="929" actId="1076"/>
          <ac:picMkLst>
            <pc:docMk/>
            <pc:sldMk cId="0" sldId="256"/>
            <ac:picMk id="24" creationId="{E7E9E48E-1CA2-EF59-E15C-1B94889B7960}"/>
          </ac:picMkLst>
        </pc:picChg>
        <pc:picChg chg="del mod">
          <ac:chgData name="Colby Ford" userId="9b2f997e-ddcc-4945-ad79-261250ebf375" providerId="ADAL" clId="{43506ECA-99C9-48B3-ADF2-A3FA5A2C75A4}" dt="2025-10-19T21:50:46.920" v="42" actId="478"/>
          <ac:picMkLst>
            <pc:docMk/>
            <pc:sldMk cId="0" sldId="256"/>
            <ac:picMk id="51" creationId="{00000000-0000-0000-0000-000000000000}"/>
          </ac:picMkLst>
        </pc:picChg>
        <pc:picChg chg="mod modCrop">
          <ac:chgData name="Colby Ford" userId="9b2f997e-ddcc-4945-ad79-261250ebf375" providerId="ADAL" clId="{43506ECA-99C9-48B3-ADF2-A3FA5A2C75A4}" dt="2025-10-19T22:41:51.146" v="872" actId="1076"/>
          <ac:picMkLst>
            <pc:docMk/>
            <pc:sldMk cId="0" sldId="256"/>
            <ac:picMk id="160" creationId="{7A9AAD8D-81B6-3834-D01D-18B59E84FF5D}"/>
          </ac:picMkLst>
        </pc:picChg>
        <pc:picChg chg="del mod">
          <ac:chgData name="Colby Ford" userId="9b2f997e-ddcc-4945-ad79-261250ebf375" providerId="ADAL" clId="{43506ECA-99C9-48B3-ADF2-A3FA5A2C75A4}" dt="2025-10-19T21:52:21.067" v="58" actId="478"/>
          <ac:picMkLst>
            <pc:docMk/>
            <pc:sldMk cId="0" sldId="256"/>
            <ac:picMk id="164" creationId="{228C5780-B96F-4666-C19E-F6335420BE8B}"/>
          </ac:picMkLst>
        </pc:picChg>
        <pc:picChg chg="mod">
          <ac:chgData name="Colby Ford" userId="9b2f997e-ddcc-4945-ad79-261250ebf375" providerId="ADAL" clId="{43506ECA-99C9-48B3-ADF2-A3FA5A2C75A4}" dt="2025-10-19T22:39:01.592" v="813" actId="1036"/>
          <ac:picMkLst>
            <pc:docMk/>
            <pc:sldMk cId="0" sldId="256"/>
            <ac:picMk id="166" creationId="{F31D37CE-1F14-0109-A9E5-C98C9BBC8215}"/>
          </ac:picMkLst>
        </pc:picChg>
        <pc:picChg chg="add del mod">
          <ac:chgData name="Colby Ford" userId="9b2f997e-ddcc-4945-ad79-261250ebf375" providerId="ADAL" clId="{43506ECA-99C9-48B3-ADF2-A3FA5A2C75A4}" dt="2025-10-19T21:57:08.594" v="150" actId="478"/>
          <ac:picMkLst>
            <pc:docMk/>
            <pc:sldMk cId="0" sldId="256"/>
            <ac:picMk id="1026" creationId="{903D6064-D73A-19E7-BEC6-8A57641011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207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CAE6238-1990-7C3D-8FE0-4DF00F0415A6}"/>
              </a:ext>
            </a:extLst>
          </p:cNvPr>
          <p:cNvSpPr/>
          <p:nvPr/>
        </p:nvSpPr>
        <p:spPr>
          <a:xfrm>
            <a:off x="0" y="-1"/>
            <a:ext cx="32918399" cy="3424139"/>
          </a:xfrm>
          <a:prstGeom prst="rect">
            <a:avLst/>
          </a:prstGeom>
          <a:solidFill>
            <a:schemeClr val="tx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aphicFrame>
        <p:nvGraphicFramePr>
          <p:cNvPr id="159" name="Table 158">
            <a:extLst>
              <a:ext uri="{FF2B5EF4-FFF2-40B4-BE49-F238E27FC236}">
                <a16:creationId xmlns:a16="http://schemas.microsoft.com/office/drawing/2014/main" id="{DE010036-6C08-4A60-186C-A09C19121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48279"/>
              </p:ext>
            </p:extLst>
          </p:nvPr>
        </p:nvGraphicFramePr>
        <p:xfrm>
          <a:off x="12349864" y="6159729"/>
          <a:ext cx="8211312" cy="51283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5656">
                  <a:extLst>
                    <a:ext uri="{9D8B030D-6E8A-4147-A177-3AD203B41FA5}">
                      <a16:colId xmlns:a16="http://schemas.microsoft.com/office/drawing/2014/main" val="1917778373"/>
                    </a:ext>
                  </a:extLst>
                </a:gridCol>
                <a:gridCol w="4105656">
                  <a:extLst>
                    <a:ext uri="{9D8B030D-6E8A-4147-A177-3AD203B41FA5}">
                      <a16:colId xmlns:a16="http://schemas.microsoft.com/office/drawing/2014/main" val="3010571560"/>
                    </a:ext>
                  </a:extLst>
                </a:gridCol>
              </a:tblGrid>
              <a:tr h="47561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28774"/>
                  </a:ext>
                </a:extLst>
              </a:tr>
              <a:tr h="372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peleke-phi-4_BHRF1_0a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PDB: 2WH6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44517"/>
                  </a:ext>
                </a:extLst>
              </a:tr>
            </a:tbl>
          </a:graphicData>
        </a:graphic>
      </p:graphicFrame>
      <p:pic>
        <p:nvPicPr>
          <p:cNvPr id="21" name="Picture 20" descr="A close-up of several white and pink objects&#10;&#10;AI-generated content may be incorrect.">
            <a:extLst>
              <a:ext uri="{FF2B5EF4-FFF2-40B4-BE49-F238E27FC236}">
                <a16:creationId xmlns:a16="http://schemas.microsoft.com/office/drawing/2014/main" id="{EFAAB7AC-2E22-CD20-1FF7-49F1548A6B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58" t="45845" r="8801"/>
          <a:stretch>
            <a:fillRect/>
          </a:stretch>
        </p:blipFill>
        <p:spPr>
          <a:xfrm>
            <a:off x="17039997" y="8307421"/>
            <a:ext cx="3011062" cy="2813107"/>
          </a:xfrm>
          <a:prstGeom prst="rect">
            <a:avLst/>
          </a:prstGeom>
        </p:spPr>
      </p:pic>
      <p:sp>
        <p:nvSpPr>
          <p:cNvPr id="30" name="TextBox 35"/>
          <p:cNvSpPr txBox="1"/>
          <p:nvPr/>
        </p:nvSpPr>
        <p:spPr>
          <a:xfrm>
            <a:off x="879673" y="499730"/>
            <a:ext cx="19465727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🦋 </a:t>
            </a:r>
            <a:r>
              <a:rPr lang="en-US" i="1" dirty="0">
                <a:solidFill>
                  <a:schemeClr val="bg1"/>
                </a:solidFill>
              </a:rPr>
              <a:t>peleke-1</a:t>
            </a:r>
            <a:r>
              <a:rPr lang="en-US" dirty="0">
                <a:solidFill>
                  <a:schemeClr val="bg1"/>
                </a:solidFill>
              </a:rPr>
              <a:t>: A Suite of Protein Language Models Fine-Tuned for Targeted Antibody Sequence Generation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3" name="TextBox 38"/>
          <p:cNvSpPr txBox="1"/>
          <p:nvPr/>
        </p:nvSpPr>
        <p:spPr>
          <a:xfrm>
            <a:off x="954134" y="3610216"/>
            <a:ext cx="9064533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Abstract</a:t>
            </a:r>
            <a:endParaRPr dirty="0"/>
          </a:p>
        </p:txBody>
      </p:sp>
      <p:sp>
        <p:nvSpPr>
          <p:cNvPr id="34" name="TextBox 39"/>
          <p:cNvSpPr txBox="1"/>
          <p:nvPr/>
        </p:nvSpPr>
        <p:spPr>
          <a:xfrm>
            <a:off x="986246" y="4348399"/>
            <a:ext cx="9064534" cy="2771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lang="en-US" dirty="0"/>
              <a:t>Here we present </a:t>
            </a:r>
            <a:r>
              <a:rPr lang="en-US" i="1" dirty="0"/>
              <a:t>peleke-1</a:t>
            </a:r>
            <a:r>
              <a:rPr lang="en-US" dirty="0"/>
              <a:t>, a suite of protein language models fine-tuned from state-of-the-art large language models using curated antibody-antigen complex data. These models generate targeted antibody </a:t>
            </a:r>
            <a:r>
              <a:rPr lang="en-US" dirty="0" err="1"/>
              <a:t>Fv</a:t>
            </a:r>
            <a:r>
              <a:rPr lang="en-US" dirty="0"/>
              <a:t> sequences for a given antigen sequence input at-scale. This suite of models provides a reliable, artificial intelligence-driven approach for </a:t>
            </a:r>
            <a:r>
              <a:rPr lang="en-US" i="1" dirty="0"/>
              <a:t>in silico</a:t>
            </a:r>
            <a:r>
              <a:rPr lang="en-US" dirty="0"/>
              <a:t> therapeutic antibody discovery along with an open-source framework for future antibody language model tuning.</a:t>
            </a:r>
            <a:endParaRPr dirty="0"/>
          </a:p>
        </p:txBody>
      </p:sp>
      <p:sp>
        <p:nvSpPr>
          <p:cNvPr id="35" name="TextBox 41"/>
          <p:cNvSpPr txBox="1"/>
          <p:nvPr/>
        </p:nvSpPr>
        <p:spPr>
          <a:xfrm>
            <a:off x="984062" y="14664776"/>
            <a:ext cx="9130938" cy="1995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lang="en-US" dirty="0"/>
              <a:t>The </a:t>
            </a:r>
            <a:r>
              <a:rPr lang="en-US" i="1" dirty="0"/>
              <a:t>peleke-1</a:t>
            </a:r>
            <a:r>
              <a:rPr lang="en-US" dirty="0"/>
              <a:t> suite consists of multiple protein-language models (PLMs), fine-tuned from existing large language models (LLMs) that span varying architectures and parameter magnitudes. To perform the fine-tuning, copious antibody-antigen sequence information was collected to form a curated training dataset. </a:t>
            </a:r>
            <a:endParaRPr dirty="0"/>
          </a:p>
        </p:txBody>
      </p:sp>
      <p:sp>
        <p:nvSpPr>
          <p:cNvPr id="37" name="TextBox 43"/>
          <p:cNvSpPr txBox="1"/>
          <p:nvPr/>
        </p:nvSpPr>
        <p:spPr>
          <a:xfrm>
            <a:off x="1013271" y="7564267"/>
            <a:ext cx="9064533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Tuning and Inferencing Workflow</a:t>
            </a:r>
            <a:endParaRPr dirty="0"/>
          </a:p>
        </p:txBody>
      </p:sp>
      <p:sp>
        <p:nvSpPr>
          <p:cNvPr id="39" name="TextBox 45"/>
          <p:cNvSpPr txBox="1"/>
          <p:nvPr/>
        </p:nvSpPr>
        <p:spPr>
          <a:xfrm>
            <a:off x="11923253" y="3580560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Targeted Antibody Generation</a:t>
            </a:r>
            <a:endParaRPr dirty="0"/>
          </a:p>
        </p:txBody>
      </p:sp>
      <p:sp>
        <p:nvSpPr>
          <p:cNvPr id="41" name="TextBox 47"/>
          <p:cNvSpPr txBox="1"/>
          <p:nvPr/>
        </p:nvSpPr>
        <p:spPr>
          <a:xfrm>
            <a:off x="11932049" y="4348399"/>
            <a:ext cx="9064534" cy="1220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lang="en-US" dirty="0"/>
              <a:t>Across the 1,050 generated </a:t>
            </a:r>
            <a:r>
              <a:rPr lang="en-US" dirty="0" err="1"/>
              <a:t>Fv</a:t>
            </a:r>
            <a:r>
              <a:rPr lang="en-US" dirty="0"/>
              <a:t> sequences (50 × 7 benchmark antigens), many have epitopes in the resulting predicted structures that closely match the desired epitope residues defined in the model input prompt.</a:t>
            </a:r>
            <a:endParaRPr dirty="0"/>
          </a:p>
        </p:txBody>
      </p:sp>
      <p:sp>
        <p:nvSpPr>
          <p:cNvPr id="42" name="TextBox 51"/>
          <p:cNvSpPr txBox="1"/>
          <p:nvPr/>
        </p:nvSpPr>
        <p:spPr>
          <a:xfrm>
            <a:off x="22893788" y="3580560"/>
            <a:ext cx="906170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Predicted Binding Performance</a:t>
            </a:r>
            <a:endParaRPr dirty="0"/>
          </a:p>
        </p:txBody>
      </p:sp>
      <p:sp>
        <p:nvSpPr>
          <p:cNvPr id="46" name="TextBox 56"/>
          <p:cNvSpPr txBox="1"/>
          <p:nvPr/>
        </p:nvSpPr>
        <p:spPr>
          <a:xfrm>
            <a:off x="12355384" y="11294020"/>
            <a:ext cx="8207632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600" dirty="0"/>
              <a:t>Comparison of (A) peleke-phi-4_BHRF1_0a, a generated anti-BHRF1 </a:t>
            </a:r>
            <a:r>
              <a:rPr lang="en-US" sz="1600" dirty="0" err="1"/>
              <a:t>Fv</a:t>
            </a:r>
            <a:r>
              <a:rPr lang="en-US" sz="1600" dirty="0"/>
              <a:t> structure, in pink; and (B) a BCL-2-like protein 11 (in yellow) bound to BHRF1 (in white, PDB: 2WH6)</a:t>
            </a:r>
            <a:endParaRPr sz="1600" dirty="0"/>
          </a:p>
        </p:txBody>
      </p:sp>
      <p:sp>
        <p:nvSpPr>
          <p:cNvPr id="50" name="TextBox 37"/>
          <p:cNvSpPr txBox="1"/>
          <p:nvPr/>
        </p:nvSpPr>
        <p:spPr>
          <a:xfrm>
            <a:off x="591587" y="2307390"/>
            <a:ext cx="11534866" cy="561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120000"/>
              </a:lnSpc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 i="1" dirty="0">
                <a:solidFill>
                  <a:schemeClr val="bg1"/>
                </a:solidFill>
              </a:rPr>
              <a:t>Nicholas Santolla*, Trey Pridgen*, </a:t>
            </a:r>
            <a:r>
              <a:rPr lang="en-US" sz="2800" i="1" dirty="0" err="1">
                <a:solidFill>
                  <a:schemeClr val="bg1"/>
                </a:solidFill>
              </a:rPr>
              <a:t>Prbhuv</a:t>
            </a:r>
            <a:r>
              <a:rPr lang="en-US" sz="2800" i="1" dirty="0">
                <a:solidFill>
                  <a:schemeClr val="bg1"/>
                </a:solidFill>
              </a:rPr>
              <a:t> Nigam, and Colby T. Ford</a:t>
            </a:r>
            <a:endParaRPr sz="2800" i="1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E35E94-129A-FE8B-58FE-5723BC884C47}"/>
              </a:ext>
            </a:extLst>
          </p:cNvPr>
          <p:cNvSpPr txBox="1">
            <a:spLocks/>
          </p:cNvSpPr>
          <p:nvPr/>
        </p:nvSpPr>
        <p:spPr>
          <a:xfrm>
            <a:off x="26443019" y="499730"/>
            <a:ext cx="6052723" cy="248647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Silico</a:t>
            </a:r>
          </a:p>
          <a:p>
            <a:r>
              <a:rPr lang="en-US" sz="7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Biosciences</a:t>
            </a:r>
          </a:p>
          <a:p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</a:rPr>
              <a:t>A </a:t>
            </a:r>
            <a:r>
              <a:rPr lang="en-US" sz="3200" dirty="0">
                <a:solidFill>
                  <a:schemeClr val="bg1"/>
                </a:solidFill>
                <a:latin typeface="Righteous" panose="02010506000000020000" pitchFamily="2" charset="0"/>
              </a:rPr>
              <a:t>&lt;Tuple&gt;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</a:rPr>
              <a:t> venture.</a:t>
            </a:r>
            <a:endParaRPr lang="en-US" sz="3200" dirty="0">
              <a:solidFill>
                <a:schemeClr val="bg1"/>
              </a:solidFill>
              <a:latin typeface="Open Sans ExtraBold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3AA0B15-6E54-A134-84FD-7937548A4BA0}"/>
              </a:ext>
            </a:extLst>
          </p:cNvPr>
          <p:cNvGrpSpPr/>
          <p:nvPr/>
        </p:nvGrpSpPr>
        <p:grpSpPr>
          <a:xfrm>
            <a:off x="1140036" y="8331239"/>
            <a:ext cx="8811002" cy="6218830"/>
            <a:chOff x="3045852" y="695458"/>
            <a:chExt cx="4269347" cy="3591686"/>
          </a:xfrm>
        </p:grpSpPr>
        <p:sp>
          <p:nvSpPr>
            <p:cNvPr id="139" name="Freeform: Shape 3">
              <a:extLst>
                <a:ext uri="{FF2B5EF4-FFF2-40B4-BE49-F238E27FC236}">
                  <a16:creationId xmlns:a16="http://schemas.microsoft.com/office/drawing/2014/main" id="{3011C1AD-E3E4-2323-AE47-A90785059A35}"/>
                </a:ext>
              </a:extLst>
            </p:cNvPr>
            <p:cNvSpPr/>
            <p:nvPr/>
          </p:nvSpPr>
          <p:spPr>
            <a:xfrm>
              <a:off x="3047937" y="3825239"/>
              <a:ext cx="1421725" cy="461905"/>
            </a:xfrm>
            <a:custGeom>
              <a:avLst/>
              <a:gdLst>
                <a:gd name="connsiteX0" fmla="*/ 0 w 1421725"/>
                <a:gd name="connsiteY0" fmla="*/ 0 h 461905"/>
                <a:gd name="connsiteX1" fmla="*/ 1421725 w 1421725"/>
                <a:gd name="connsiteY1" fmla="*/ 0 h 461905"/>
                <a:gd name="connsiteX2" fmla="*/ 1421725 w 1421725"/>
                <a:gd name="connsiteY2" fmla="*/ 461905 h 461905"/>
                <a:gd name="connsiteX3" fmla="*/ 0 w 1421725"/>
                <a:gd name="connsiteY3" fmla="*/ 461905 h 461905"/>
                <a:gd name="connsiteX4" fmla="*/ 0 w 1421725"/>
                <a:gd name="connsiteY4" fmla="*/ 0 h 46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1725" h="461905">
                  <a:moveTo>
                    <a:pt x="0" y="0"/>
                  </a:moveTo>
                  <a:lnTo>
                    <a:pt x="1421725" y="0"/>
                  </a:lnTo>
                  <a:lnTo>
                    <a:pt x="1421725" y="461905"/>
                  </a:lnTo>
                  <a:lnTo>
                    <a:pt x="0" y="46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Predict antibody binding affinity with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HADDOCK3</a:t>
              </a:r>
            </a:p>
          </p:txBody>
        </p:sp>
        <p:sp>
          <p:nvSpPr>
            <p:cNvPr id="140" name="Freeform: Shape 4">
              <a:extLst>
                <a:ext uri="{FF2B5EF4-FFF2-40B4-BE49-F238E27FC236}">
                  <a16:creationId xmlns:a16="http://schemas.microsoft.com/office/drawing/2014/main" id="{33FB82F4-F2EF-E5A0-0954-A23866AF6246}"/>
                </a:ext>
              </a:extLst>
            </p:cNvPr>
            <p:cNvSpPr/>
            <p:nvPr/>
          </p:nvSpPr>
          <p:spPr>
            <a:xfrm>
              <a:off x="4469663" y="3825239"/>
              <a:ext cx="1421725" cy="461905"/>
            </a:xfrm>
            <a:custGeom>
              <a:avLst/>
              <a:gdLst>
                <a:gd name="connsiteX0" fmla="*/ 0 w 1421725"/>
                <a:gd name="connsiteY0" fmla="*/ 0 h 461905"/>
                <a:gd name="connsiteX1" fmla="*/ 1421725 w 1421725"/>
                <a:gd name="connsiteY1" fmla="*/ 0 h 461905"/>
                <a:gd name="connsiteX2" fmla="*/ 1421725 w 1421725"/>
                <a:gd name="connsiteY2" fmla="*/ 461905 h 461905"/>
                <a:gd name="connsiteX3" fmla="*/ 0 w 1421725"/>
                <a:gd name="connsiteY3" fmla="*/ 461905 h 461905"/>
                <a:gd name="connsiteX4" fmla="*/ 0 w 1421725"/>
                <a:gd name="connsiteY4" fmla="*/ 0 h 46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1725" h="461905">
                  <a:moveTo>
                    <a:pt x="0" y="0"/>
                  </a:moveTo>
                  <a:lnTo>
                    <a:pt x="1421725" y="0"/>
                  </a:lnTo>
                  <a:lnTo>
                    <a:pt x="1421725" y="461905"/>
                  </a:lnTo>
                  <a:lnTo>
                    <a:pt x="0" y="46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Predict protein complex stability with </a:t>
              </a:r>
              <a:r>
                <a:rPr kumimoji="0" lang="en-US" sz="1800" b="0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FoldX</a:t>
              </a:r>
              <a:endPara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5">
              <a:extLst>
                <a:ext uri="{FF2B5EF4-FFF2-40B4-BE49-F238E27FC236}">
                  <a16:creationId xmlns:a16="http://schemas.microsoft.com/office/drawing/2014/main" id="{24868BD8-DBFE-40D2-51D7-5EAD35B82DB8}"/>
                </a:ext>
              </a:extLst>
            </p:cNvPr>
            <p:cNvSpPr/>
            <p:nvPr/>
          </p:nvSpPr>
          <p:spPr>
            <a:xfrm>
              <a:off x="5891389" y="3825239"/>
              <a:ext cx="1421725" cy="461905"/>
            </a:xfrm>
            <a:custGeom>
              <a:avLst/>
              <a:gdLst>
                <a:gd name="connsiteX0" fmla="*/ 0 w 1421725"/>
                <a:gd name="connsiteY0" fmla="*/ 0 h 461905"/>
                <a:gd name="connsiteX1" fmla="*/ 1421725 w 1421725"/>
                <a:gd name="connsiteY1" fmla="*/ 0 h 461905"/>
                <a:gd name="connsiteX2" fmla="*/ 1421725 w 1421725"/>
                <a:gd name="connsiteY2" fmla="*/ 461905 h 461905"/>
                <a:gd name="connsiteX3" fmla="*/ 0 w 1421725"/>
                <a:gd name="connsiteY3" fmla="*/ 461905 h 461905"/>
                <a:gd name="connsiteX4" fmla="*/ 0 w 1421725"/>
                <a:gd name="connsiteY4" fmla="*/ 0 h 46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1725" h="461905">
                  <a:moveTo>
                    <a:pt x="0" y="0"/>
                  </a:moveTo>
                  <a:lnTo>
                    <a:pt x="1421725" y="0"/>
                  </a:lnTo>
                  <a:lnTo>
                    <a:pt x="1421725" y="461905"/>
                  </a:lnTo>
                  <a:lnTo>
                    <a:pt x="0" y="461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Predict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Fv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sequence humanness with </a:t>
              </a:r>
              <a:r>
                <a:rPr kumimoji="0" lang="en-US" sz="1800" b="0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Humatch</a:t>
              </a:r>
              <a:endPara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7">
              <a:extLst>
                <a:ext uri="{FF2B5EF4-FFF2-40B4-BE49-F238E27FC236}">
                  <a16:creationId xmlns:a16="http://schemas.microsoft.com/office/drawing/2014/main" id="{8173981F-384F-C0AB-848F-5DE1BC361452}"/>
                </a:ext>
              </a:extLst>
            </p:cNvPr>
            <p:cNvSpPr/>
            <p:nvPr/>
          </p:nvSpPr>
          <p:spPr>
            <a:xfrm>
              <a:off x="3045852" y="2874880"/>
              <a:ext cx="2134673" cy="461766"/>
            </a:xfrm>
            <a:custGeom>
              <a:avLst/>
              <a:gdLst>
                <a:gd name="connsiteX0" fmla="*/ 0 w 2134673"/>
                <a:gd name="connsiteY0" fmla="*/ 0 h 461766"/>
                <a:gd name="connsiteX1" fmla="*/ 2134673 w 2134673"/>
                <a:gd name="connsiteY1" fmla="*/ 0 h 461766"/>
                <a:gd name="connsiteX2" fmla="*/ 2134673 w 2134673"/>
                <a:gd name="connsiteY2" fmla="*/ 461766 h 461766"/>
                <a:gd name="connsiteX3" fmla="*/ 0 w 2134673"/>
                <a:gd name="connsiteY3" fmla="*/ 461766 h 461766"/>
                <a:gd name="connsiteX4" fmla="*/ 0 w 2134673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4673" h="461766">
                  <a:moveTo>
                    <a:pt x="0" y="0"/>
                  </a:moveTo>
                  <a:lnTo>
                    <a:pt x="2134673" y="0"/>
                  </a:lnTo>
                  <a:lnTo>
                    <a:pt x="2134673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Generate 50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Fv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sequences for each antigen and model</a:t>
              </a:r>
            </a:p>
          </p:txBody>
        </p:sp>
        <p:sp>
          <p:nvSpPr>
            <p:cNvPr id="143" name="Freeform: Shape 8">
              <a:extLst>
                <a:ext uri="{FF2B5EF4-FFF2-40B4-BE49-F238E27FC236}">
                  <a16:creationId xmlns:a16="http://schemas.microsoft.com/office/drawing/2014/main" id="{26BFF8FB-C166-5EFD-1BE5-5371038C8C9A}"/>
                </a:ext>
              </a:extLst>
            </p:cNvPr>
            <p:cNvSpPr/>
            <p:nvPr/>
          </p:nvSpPr>
          <p:spPr>
            <a:xfrm>
              <a:off x="5180525" y="2874880"/>
              <a:ext cx="2134673" cy="461766"/>
            </a:xfrm>
            <a:custGeom>
              <a:avLst/>
              <a:gdLst>
                <a:gd name="connsiteX0" fmla="*/ 0 w 2134673"/>
                <a:gd name="connsiteY0" fmla="*/ 0 h 461766"/>
                <a:gd name="connsiteX1" fmla="*/ 2134673 w 2134673"/>
                <a:gd name="connsiteY1" fmla="*/ 0 h 461766"/>
                <a:gd name="connsiteX2" fmla="*/ 2134673 w 2134673"/>
                <a:gd name="connsiteY2" fmla="*/ 461766 h 461766"/>
                <a:gd name="connsiteX3" fmla="*/ 0 w 2134673"/>
                <a:gd name="connsiteY3" fmla="*/ 461766 h 461766"/>
                <a:gd name="connsiteX4" fmla="*/ 0 w 2134673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4673" h="461766">
                  <a:moveTo>
                    <a:pt x="0" y="0"/>
                  </a:moveTo>
                  <a:lnTo>
                    <a:pt x="2134673" y="0"/>
                  </a:lnTo>
                  <a:lnTo>
                    <a:pt x="2134673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Fold each generated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Fv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sequence and antigen as a multimer with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ESM3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1">
              <a:extLst>
                <a:ext uri="{FF2B5EF4-FFF2-40B4-BE49-F238E27FC236}">
                  <a16:creationId xmlns:a16="http://schemas.microsoft.com/office/drawing/2014/main" id="{5C9C81F3-DB0C-6300-B964-59820F206A57}"/>
                </a:ext>
              </a:extLst>
            </p:cNvPr>
            <p:cNvSpPr/>
            <p:nvPr/>
          </p:nvSpPr>
          <p:spPr>
            <a:xfrm>
              <a:off x="3045853" y="1924521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Retrieve open-source model from Hugging Face</a:t>
              </a:r>
            </a:p>
          </p:txBody>
        </p:sp>
        <p:sp>
          <p:nvSpPr>
            <p:cNvPr id="145" name="Freeform: Shape 12">
              <a:extLst>
                <a:ext uri="{FF2B5EF4-FFF2-40B4-BE49-F238E27FC236}">
                  <a16:creationId xmlns:a16="http://schemas.microsoft.com/office/drawing/2014/main" id="{EFB267DB-DB32-3B86-7BC9-15A9EEFDFA59}"/>
                </a:ext>
              </a:extLst>
            </p:cNvPr>
            <p:cNvSpPr/>
            <p:nvPr/>
          </p:nvSpPr>
          <p:spPr>
            <a:xfrm>
              <a:off x="4113189" y="1924521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Update tokenizer with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transformers</a:t>
              </a:r>
            </a:p>
          </p:txBody>
        </p:sp>
        <p:sp>
          <p:nvSpPr>
            <p:cNvPr id="146" name="Freeform: Shape 13">
              <a:extLst>
                <a:ext uri="{FF2B5EF4-FFF2-40B4-BE49-F238E27FC236}">
                  <a16:creationId xmlns:a16="http://schemas.microsoft.com/office/drawing/2014/main" id="{6FE9B8D9-1AFC-6365-ABA8-1466F07EA7BA}"/>
                </a:ext>
              </a:extLst>
            </p:cNvPr>
            <p:cNvSpPr/>
            <p:nvPr/>
          </p:nvSpPr>
          <p:spPr>
            <a:xfrm>
              <a:off x="5180526" y="1924521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Set up PEFT adapter</a:t>
              </a:r>
            </a:p>
          </p:txBody>
        </p:sp>
        <p:sp>
          <p:nvSpPr>
            <p:cNvPr id="147" name="Freeform: Shape 14">
              <a:extLst>
                <a:ext uri="{FF2B5EF4-FFF2-40B4-BE49-F238E27FC236}">
                  <a16:creationId xmlns:a16="http://schemas.microsoft.com/office/drawing/2014/main" id="{0816F534-F080-6B83-7008-B8A6C23F5D67}"/>
                </a:ext>
              </a:extLst>
            </p:cNvPr>
            <p:cNvSpPr/>
            <p:nvPr/>
          </p:nvSpPr>
          <p:spPr>
            <a:xfrm>
              <a:off x="6247863" y="1924521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Tune model for multiple epochs</a:t>
              </a:r>
            </a:p>
          </p:txBody>
        </p:sp>
        <p:sp>
          <p:nvSpPr>
            <p:cNvPr id="148" name="Freeform: Shape 16">
              <a:extLst>
                <a:ext uri="{FF2B5EF4-FFF2-40B4-BE49-F238E27FC236}">
                  <a16:creationId xmlns:a16="http://schemas.microsoft.com/office/drawing/2014/main" id="{4A2A29DA-9ABD-1623-CE07-50F923A221AC}"/>
                </a:ext>
              </a:extLst>
            </p:cNvPr>
            <p:cNvSpPr/>
            <p:nvPr/>
          </p:nvSpPr>
          <p:spPr>
            <a:xfrm>
              <a:off x="3045853" y="975419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Collect antibody data from </a:t>
              </a:r>
              <a:r>
                <a:rPr kumimoji="0" lang="en-US" sz="1800" b="0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SAbDab</a:t>
              </a:r>
              <a:endPara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7">
              <a:extLst>
                <a:ext uri="{FF2B5EF4-FFF2-40B4-BE49-F238E27FC236}">
                  <a16:creationId xmlns:a16="http://schemas.microsoft.com/office/drawing/2014/main" id="{E644A28F-FE0C-01B2-6E15-C68E5A38C843}"/>
                </a:ext>
              </a:extLst>
            </p:cNvPr>
            <p:cNvSpPr/>
            <p:nvPr/>
          </p:nvSpPr>
          <p:spPr>
            <a:xfrm>
              <a:off x="4113189" y="975419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Download PDB entries from Protein Data Bank</a:t>
              </a:r>
            </a:p>
          </p:txBody>
        </p:sp>
        <p:sp>
          <p:nvSpPr>
            <p:cNvPr id="150" name="Freeform: Shape 18">
              <a:extLst>
                <a:ext uri="{FF2B5EF4-FFF2-40B4-BE49-F238E27FC236}">
                  <a16:creationId xmlns:a16="http://schemas.microsoft.com/office/drawing/2014/main" id="{B99CE3BA-BFCA-DDB4-5FC4-06C07EB3BA3E}"/>
                </a:ext>
              </a:extLst>
            </p:cNvPr>
            <p:cNvSpPr/>
            <p:nvPr/>
          </p:nvSpPr>
          <p:spPr>
            <a:xfrm>
              <a:off x="5180526" y="975419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Retrieve antibody and antigen sequences</a:t>
              </a:r>
            </a:p>
          </p:txBody>
        </p:sp>
        <p:sp>
          <p:nvSpPr>
            <p:cNvPr id="151" name="Freeform: Shape 19">
              <a:extLst>
                <a:ext uri="{FF2B5EF4-FFF2-40B4-BE49-F238E27FC236}">
                  <a16:creationId xmlns:a16="http://schemas.microsoft.com/office/drawing/2014/main" id="{E3995D2D-500B-38E7-E165-592ED1A20464}"/>
                </a:ext>
              </a:extLst>
            </p:cNvPr>
            <p:cNvSpPr/>
            <p:nvPr/>
          </p:nvSpPr>
          <p:spPr>
            <a:xfrm>
              <a:off x="6247863" y="975419"/>
              <a:ext cx="1067336" cy="461766"/>
            </a:xfrm>
            <a:custGeom>
              <a:avLst/>
              <a:gdLst>
                <a:gd name="connsiteX0" fmla="*/ 0 w 1067336"/>
                <a:gd name="connsiteY0" fmla="*/ 0 h 461766"/>
                <a:gd name="connsiteX1" fmla="*/ 1067336 w 1067336"/>
                <a:gd name="connsiteY1" fmla="*/ 0 h 461766"/>
                <a:gd name="connsiteX2" fmla="*/ 1067336 w 1067336"/>
                <a:gd name="connsiteY2" fmla="*/ 461766 h 461766"/>
                <a:gd name="connsiteX3" fmla="*/ 0 w 1067336"/>
                <a:gd name="connsiteY3" fmla="*/ 461766 h 461766"/>
                <a:gd name="connsiteX4" fmla="*/ 0 w 1067336"/>
                <a:gd name="connsiteY4" fmla="*/ 0 h 4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336" h="461766">
                  <a:moveTo>
                    <a:pt x="0" y="0"/>
                  </a:moveTo>
                  <a:lnTo>
                    <a:pt x="1067336" y="0"/>
                  </a:lnTo>
                  <a:lnTo>
                    <a:pt x="1067336" y="461766"/>
                  </a:lnTo>
                  <a:lnTo>
                    <a:pt x="0" y="461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srgbClr val="0000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 spcFirstLastPara="0" vert="horz" wrap="square" lIns="56896" tIns="10160" rIns="56896" bIns="10160" numCol="1" spcCol="1270" anchor="ctr" anchorCtr="0">
              <a:noAutofit/>
            </a:bodyPr>
            <a:lstStyle/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Detect epitope residues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4436F85-7566-FB79-86C6-2C26D1BEE236}"/>
                </a:ext>
              </a:extLst>
            </p:cNvPr>
            <p:cNvSpPr/>
            <p:nvPr/>
          </p:nvSpPr>
          <p:spPr>
            <a:xfrm>
              <a:off x="3045852" y="695458"/>
              <a:ext cx="4267262" cy="278115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Data Curation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44963FE-9024-C6BC-4E42-13DE62C15A7A}"/>
                </a:ext>
              </a:extLst>
            </p:cNvPr>
            <p:cNvSpPr/>
            <p:nvPr/>
          </p:nvSpPr>
          <p:spPr>
            <a:xfrm>
              <a:off x="3045852" y="1644559"/>
              <a:ext cx="4267262" cy="278115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Model Tuning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4C5C11D-810D-0564-5CBB-EA8DD2748ED3}"/>
                </a:ext>
              </a:extLst>
            </p:cNvPr>
            <p:cNvSpPr/>
            <p:nvPr/>
          </p:nvSpPr>
          <p:spPr>
            <a:xfrm>
              <a:off x="3045852" y="2593660"/>
              <a:ext cx="4267262" cy="278115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Inferencing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38D7387-C237-1DA5-A502-AC5E7735F37A}"/>
                </a:ext>
              </a:extLst>
            </p:cNvPr>
            <p:cNvSpPr/>
            <p:nvPr/>
          </p:nvSpPr>
          <p:spPr>
            <a:xfrm>
              <a:off x="3045852" y="3547124"/>
              <a:ext cx="4267262" cy="278115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Evaluation</a:t>
              </a:r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F5BEAB4D-5644-A3A2-4854-8A9F6CC926DF}"/>
                </a:ext>
              </a:extLst>
            </p:cNvPr>
            <p:cNvCxnSpPr>
              <a:stCxn id="150" idx="3"/>
              <a:endCxn id="153" idx="0"/>
            </p:cNvCxnSpPr>
            <p:nvPr/>
          </p:nvCxnSpPr>
          <p:spPr>
            <a:xfrm flipH="1">
              <a:off x="5179483" y="1437185"/>
              <a:ext cx="1043" cy="207374"/>
            </a:xfrm>
            <a:prstGeom prst="straightConnector1">
              <a:avLst/>
            </a:prstGeom>
            <a:noFill/>
            <a:ln w="76200" cap="flat" cmpd="sng" algn="ctr">
              <a:solidFill>
                <a:srgbClr val="5F5F5F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5757A531-BA50-78D9-1222-5BD21D5E3C26}"/>
                </a:ext>
              </a:extLst>
            </p:cNvPr>
            <p:cNvCxnSpPr>
              <a:cxnSpLocks/>
              <a:stCxn id="146" idx="3"/>
              <a:endCxn id="154" idx="0"/>
            </p:cNvCxnSpPr>
            <p:nvPr/>
          </p:nvCxnSpPr>
          <p:spPr>
            <a:xfrm flipH="1">
              <a:off x="5179483" y="2386287"/>
              <a:ext cx="1043" cy="207373"/>
            </a:xfrm>
            <a:prstGeom prst="straightConnector1">
              <a:avLst/>
            </a:prstGeom>
            <a:noFill/>
            <a:ln w="76200" cap="flat" cmpd="sng" algn="ctr">
              <a:solidFill>
                <a:srgbClr val="5F5F5F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73818FCC-C92D-0766-E922-A12961B5A9AA}"/>
                </a:ext>
              </a:extLst>
            </p:cNvPr>
            <p:cNvCxnSpPr>
              <a:cxnSpLocks/>
              <a:stCxn id="143" idx="3"/>
              <a:endCxn id="155" idx="0"/>
            </p:cNvCxnSpPr>
            <p:nvPr/>
          </p:nvCxnSpPr>
          <p:spPr>
            <a:xfrm flipH="1">
              <a:off x="5179483" y="3336646"/>
              <a:ext cx="1042" cy="210478"/>
            </a:xfrm>
            <a:prstGeom prst="straightConnector1">
              <a:avLst/>
            </a:prstGeom>
            <a:noFill/>
            <a:ln w="76200" cap="flat" cmpd="sng" algn="ctr">
              <a:solidFill>
                <a:srgbClr val="5F5F5F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pic>
        <p:nvPicPr>
          <p:cNvPr id="160" name="Picture 159" descr="A close-up of several white and pink objects&#10;&#10;AI-generated content may be incorrect.">
            <a:extLst>
              <a:ext uri="{FF2B5EF4-FFF2-40B4-BE49-F238E27FC236}">
                <a16:creationId xmlns:a16="http://schemas.microsoft.com/office/drawing/2014/main" id="{7A9AAD8D-81B6-3834-D01D-18B59E84F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5" r="49091"/>
          <a:stretch>
            <a:fillRect/>
          </a:stretch>
        </p:blipFill>
        <p:spPr>
          <a:xfrm>
            <a:off x="12573000" y="6152449"/>
            <a:ext cx="3956880" cy="4979242"/>
          </a:xfrm>
          <a:prstGeom prst="rect">
            <a:avLst/>
          </a:prstGeom>
        </p:spPr>
      </p:pic>
      <p:graphicFrame>
        <p:nvGraphicFramePr>
          <p:cNvPr id="165" name="Table 164">
            <a:extLst>
              <a:ext uri="{FF2B5EF4-FFF2-40B4-BE49-F238E27FC236}">
                <a16:creationId xmlns:a16="http://schemas.microsoft.com/office/drawing/2014/main" id="{E71CDB49-F92D-00BF-BAEC-B971898AF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942431"/>
              </p:ext>
            </p:extLst>
          </p:nvPr>
        </p:nvGraphicFramePr>
        <p:xfrm>
          <a:off x="12360500" y="12639574"/>
          <a:ext cx="8207632" cy="6435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3816">
                  <a:extLst>
                    <a:ext uri="{9D8B030D-6E8A-4147-A177-3AD203B41FA5}">
                      <a16:colId xmlns:a16="http://schemas.microsoft.com/office/drawing/2014/main" val="1917778373"/>
                    </a:ext>
                  </a:extLst>
                </a:gridCol>
                <a:gridCol w="4103816">
                  <a:extLst>
                    <a:ext uri="{9D8B030D-6E8A-4147-A177-3AD203B41FA5}">
                      <a16:colId xmlns:a16="http://schemas.microsoft.com/office/drawing/2014/main" val="3010571560"/>
                    </a:ext>
                  </a:extLst>
                </a:gridCol>
              </a:tblGrid>
              <a:tr h="159004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28774"/>
                  </a:ext>
                </a:extLst>
              </a:tr>
              <a:tr h="15900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peleke-phi-4_PD-1_18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peleke-mistral-7b-instruct-v0.2_PD-1_12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5762"/>
                  </a:ext>
                </a:extLst>
              </a:tr>
              <a:tr h="29200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041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peleke-llama-3.1-8b-instruct_PD-1_30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Pembrolizumab, PDB: 5JXE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44517"/>
                  </a:ext>
                </a:extLst>
              </a:tr>
            </a:tbl>
          </a:graphicData>
        </a:graphic>
      </p:graphicFrame>
      <p:pic>
        <p:nvPicPr>
          <p:cNvPr id="166" name="Picture 165" descr="A group of colorful objects&#10;&#10;AI-generated content may be incorrect.">
            <a:extLst>
              <a:ext uri="{FF2B5EF4-FFF2-40B4-BE49-F238E27FC236}">
                <a16:creationId xmlns:a16="http://schemas.microsoft.com/office/drawing/2014/main" id="{F31D37CE-1F14-0109-A9E5-C98C9BBC8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7998" y="12754521"/>
            <a:ext cx="7772400" cy="6029454"/>
          </a:xfrm>
          <a:prstGeom prst="rect">
            <a:avLst/>
          </a:prstGeom>
        </p:spPr>
      </p:pic>
      <p:sp>
        <p:nvSpPr>
          <p:cNvPr id="167" name="TextBox 56">
            <a:extLst>
              <a:ext uri="{FF2B5EF4-FFF2-40B4-BE49-F238E27FC236}">
                <a16:creationId xmlns:a16="http://schemas.microsoft.com/office/drawing/2014/main" id="{45F45162-BAC9-C00A-941C-37B6B1544FEC}"/>
              </a:ext>
            </a:extLst>
          </p:cNvPr>
          <p:cNvSpPr txBox="1"/>
          <p:nvPr/>
        </p:nvSpPr>
        <p:spPr>
          <a:xfrm>
            <a:off x="12360500" y="19158415"/>
            <a:ext cx="8207632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600" dirty="0"/>
              <a:t>Comparison of 3 novel anti-PD-1 candidates: (A) peleke-phi-4_PD-1_18 (in pink); (B) peleke-mistral-7b-instruct-v0.2_PD-1_12 (in orange); and (C) peleke-llama-3.1-8b-instruct_PD-1_30} (in blue); with (D) pembrolizumab (in yellow),</a:t>
            </a:r>
          </a:p>
          <a:p>
            <a:r>
              <a:rPr lang="en-US" sz="1600" dirty="0"/>
              <a:t> all bound to PD-1 (in white, PDB: 5JXE)</a:t>
            </a:r>
            <a:endParaRPr sz="1600" dirty="0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19713B3F-F1B3-D76E-DCF3-3285BB164C5B}"/>
              </a:ext>
            </a:extLst>
          </p:cNvPr>
          <p:cNvSpPr/>
          <p:nvPr/>
        </p:nvSpPr>
        <p:spPr>
          <a:xfrm>
            <a:off x="5047703" y="17127677"/>
            <a:ext cx="5120640" cy="578880"/>
          </a:xfrm>
          <a:prstGeom prst="roundRect">
            <a:avLst/>
          </a:prstGeom>
          <a:solidFill>
            <a:srgbClr val="3280CC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peleke-llama-3.1-8b-instruct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28E388FA-1500-E181-D743-CE5B486F741E}"/>
              </a:ext>
            </a:extLst>
          </p:cNvPr>
          <p:cNvSpPr/>
          <p:nvPr/>
        </p:nvSpPr>
        <p:spPr>
          <a:xfrm>
            <a:off x="5051693" y="18778408"/>
            <a:ext cx="5120640" cy="578880"/>
          </a:xfrm>
          <a:prstGeom prst="roundRect">
            <a:avLst/>
          </a:prstGeom>
          <a:solidFill>
            <a:srgbClr val="FE0080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peleke-phi-4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4CA463D3-AB1C-FB11-28A8-DF18891A6815}"/>
              </a:ext>
            </a:extLst>
          </p:cNvPr>
          <p:cNvSpPr/>
          <p:nvPr/>
        </p:nvSpPr>
        <p:spPr>
          <a:xfrm>
            <a:off x="5047703" y="17953361"/>
            <a:ext cx="5120640" cy="578880"/>
          </a:xfrm>
          <a:prstGeom prst="roundRect">
            <a:avLst/>
          </a:prstGeom>
          <a:solidFill>
            <a:srgbClr val="FF8001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peleke-mistral-7b-instruct-v0.2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3745BF3D-E023-8117-C482-1CE049443C4A}"/>
              </a:ext>
            </a:extLst>
          </p:cNvPr>
          <p:cNvSpPr/>
          <p:nvPr/>
        </p:nvSpPr>
        <p:spPr>
          <a:xfrm>
            <a:off x="939880" y="18343316"/>
            <a:ext cx="3871606" cy="1055606"/>
          </a:xfrm>
          <a:prstGeom prst="roundRect">
            <a:avLst/>
          </a:prstGeom>
          <a:solidFill>
            <a:schemeClr val="bg2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Antibody-Antigen Complex Training Data 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52EB8E64-4FBB-9B13-1C31-FE16179A71FA}"/>
              </a:ext>
            </a:extLst>
          </p:cNvPr>
          <p:cNvSpPr/>
          <p:nvPr/>
        </p:nvSpPr>
        <p:spPr>
          <a:xfrm>
            <a:off x="2476500" y="20582617"/>
            <a:ext cx="6019800" cy="82230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huggingface.co/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silicobio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4" name="TextBox 43">
            <a:extLst>
              <a:ext uri="{FF2B5EF4-FFF2-40B4-BE49-F238E27FC236}">
                <a16:creationId xmlns:a16="http://schemas.microsoft.com/office/drawing/2014/main" id="{EA438375-FC8B-6FBF-499A-CA0229E9DCCC}"/>
              </a:ext>
            </a:extLst>
          </p:cNvPr>
          <p:cNvSpPr txBox="1"/>
          <p:nvPr/>
        </p:nvSpPr>
        <p:spPr>
          <a:xfrm>
            <a:off x="939880" y="17140586"/>
            <a:ext cx="4107823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Now Available on</a:t>
            </a:r>
          </a:p>
          <a:p>
            <a:r>
              <a:rPr lang="en-US" dirty="0"/>
              <a:t>    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Hugging Face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554CBB28-3EB5-9085-E7F3-3F61B5FA0032}"/>
              </a:ext>
            </a:extLst>
          </p:cNvPr>
          <p:cNvSpPr/>
          <p:nvPr/>
        </p:nvSpPr>
        <p:spPr>
          <a:xfrm>
            <a:off x="13445620" y="20582617"/>
            <a:ext cx="6019800" cy="82230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silico.bio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peleke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83415540-CF46-6035-4415-242D8D9EC407}"/>
              </a:ext>
            </a:extLst>
          </p:cNvPr>
          <p:cNvSpPr/>
          <p:nvPr/>
        </p:nvSpPr>
        <p:spPr>
          <a:xfrm>
            <a:off x="24414740" y="20582617"/>
            <a:ext cx="6019800" cy="82230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github.com/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silicobio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peleke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group of colorful boxes&#10;&#10;AI-generated content may be incorrect.">
            <a:extLst>
              <a:ext uri="{FF2B5EF4-FFF2-40B4-BE49-F238E27FC236}">
                <a16:creationId xmlns:a16="http://schemas.microsoft.com/office/drawing/2014/main" id="{53C97961-3F19-067F-C73C-7A7F2FC3D0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0195" y="9568155"/>
            <a:ext cx="6751126" cy="9789133"/>
          </a:xfrm>
          <a:prstGeom prst="rect">
            <a:avLst/>
          </a:prstGeom>
        </p:spPr>
      </p:pic>
      <p:sp>
        <p:nvSpPr>
          <p:cNvPr id="11" name="TextBox 56">
            <a:extLst>
              <a:ext uri="{FF2B5EF4-FFF2-40B4-BE49-F238E27FC236}">
                <a16:creationId xmlns:a16="http://schemas.microsoft.com/office/drawing/2014/main" id="{334D3888-0D7B-2701-F3DF-4641650E2D1B}"/>
              </a:ext>
            </a:extLst>
          </p:cNvPr>
          <p:cNvSpPr txBox="1"/>
          <p:nvPr/>
        </p:nvSpPr>
        <p:spPr>
          <a:xfrm>
            <a:off x="23683226" y="19404636"/>
            <a:ext cx="7506686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600" dirty="0"/>
              <a:t>Boxplots depicting the predicted binding affinity score distribution by antigen and model. More negative values (HADDOCK scores) indicate better overall binding.</a:t>
            </a:r>
          </a:p>
          <a:p>
            <a:r>
              <a:rPr lang="en-US" sz="1600" dirty="0"/>
              <a:t>Note that the y-axis is showing scores between [-250, 250].</a:t>
            </a:r>
            <a:endParaRPr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AC9349-D265-D24E-7521-00A497DB1FAD}"/>
              </a:ext>
            </a:extLst>
          </p:cNvPr>
          <p:cNvSpPr txBox="1"/>
          <p:nvPr/>
        </p:nvSpPr>
        <p:spPr>
          <a:xfrm>
            <a:off x="22905718" y="4348399"/>
            <a:ext cx="9061704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Predicted antibody-antigen binding affinities were considerably stable between the base models but varied depending on the benchmark antigen.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34142D5-D901-86FC-0E9B-86979FDB2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774952"/>
              </p:ext>
            </p:extLst>
          </p:nvPr>
        </p:nvGraphicFramePr>
        <p:xfrm>
          <a:off x="23366990" y="5300284"/>
          <a:ext cx="8217537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3303">
                  <a:extLst>
                    <a:ext uri="{9D8B030D-6E8A-4147-A177-3AD203B41FA5}">
                      <a16:colId xmlns:a16="http://schemas.microsoft.com/office/drawing/2014/main" val="3179506697"/>
                    </a:ext>
                  </a:extLst>
                </a:gridCol>
                <a:gridCol w="2474278">
                  <a:extLst>
                    <a:ext uri="{9D8B030D-6E8A-4147-A177-3AD203B41FA5}">
                      <a16:colId xmlns:a16="http://schemas.microsoft.com/office/drawing/2014/main" val="2639396742"/>
                    </a:ext>
                  </a:extLst>
                </a:gridCol>
                <a:gridCol w="2740978">
                  <a:extLst>
                    <a:ext uri="{9D8B030D-6E8A-4147-A177-3AD203B41FA5}">
                      <a16:colId xmlns:a16="http://schemas.microsoft.com/office/drawing/2014/main" val="2641595096"/>
                    </a:ext>
                  </a:extLst>
                </a:gridCol>
                <a:gridCol w="1978978">
                  <a:extLst>
                    <a:ext uri="{9D8B030D-6E8A-4147-A177-3AD203B41FA5}">
                      <a16:colId xmlns:a16="http://schemas.microsoft.com/office/drawing/2014/main" val="527170407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Antigen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chemeClr val="tx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peleke-1 Fine-Tuned Model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17245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llama-3.1-8b-instruct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rgbClr val="3280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mistral-7b-instruct-v0.2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rgbClr val="FF80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phi-4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rgbClr val="FE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547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BBF-14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22.73% (63.34)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15% (106.84)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18.42% (49.88)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6183501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BHRF1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2.63% (218.86)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10.81% (289.61)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9.3% (131.62)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967450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EGFR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 (101.64)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23.26% (24.66)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 (163.88)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338979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IL-7Ra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36.17% (-3.46)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46.81% (-10.11)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31.91% (13.64)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20597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MBP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67.39% (-52.56)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57.78% (-52.52)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69.39% (-57.98)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8008138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PD-1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73.47% (-66.72)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79.59% (-82.51)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76.6% (-70.12)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314694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PD-L1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79.59% (-71.53)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70.83% (-62.52)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72.92% (-73.38)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42903977"/>
                  </a:ext>
                </a:extLst>
              </a:tr>
            </a:tbl>
          </a:graphicData>
        </a:graphic>
      </p:graphicFrame>
      <p:sp>
        <p:nvSpPr>
          <p:cNvPr id="15" name="TextBox 56">
            <a:extLst>
              <a:ext uri="{FF2B5EF4-FFF2-40B4-BE49-F238E27FC236}">
                <a16:creationId xmlns:a16="http://schemas.microsoft.com/office/drawing/2014/main" id="{530A2016-988C-D091-FBA9-B5E5A9C5B86B}"/>
              </a:ext>
            </a:extLst>
          </p:cNvPr>
          <p:cNvSpPr txBox="1"/>
          <p:nvPr/>
        </p:nvSpPr>
        <p:spPr>
          <a:xfrm>
            <a:off x="23332753" y="8888315"/>
            <a:ext cx="8207632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600" dirty="0"/>
              <a:t>Percentage of complexes with van der Waals energies &lt;-25 kcal/mol (median value shown in parentheses) by fine-tuned model and antigen.</a:t>
            </a:r>
            <a:endParaRPr sz="16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B610147-7DC8-2891-79CB-5EA95C3A51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80" y="17647381"/>
            <a:ext cx="646481" cy="64648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7E9E48E-1CA2-EF59-E15C-1B94889B79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733711" y="110925"/>
            <a:ext cx="3198084" cy="319808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8781</TotalTime>
  <Words>642</Words>
  <Application>Microsoft Office PowerPoint</Application>
  <PresentationFormat>Custom</PresentationFormat>
  <Paragraphs>90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Open Sans ExtraBold</vt:lpstr>
      <vt:lpstr>Poppins</vt:lpstr>
      <vt:lpstr>Righteous</vt:lpstr>
      <vt:lpstr>Source Sans Pro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Colby Ford</cp:lastModifiedBy>
  <cp:revision>5</cp:revision>
  <dcterms:modified xsi:type="dcterms:W3CDTF">2025-10-19T22:49:19Z</dcterms:modified>
</cp:coreProperties>
</file>