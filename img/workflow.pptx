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43" d="100"/>
          <a:sy n="143" d="100"/>
        </p:scale>
        <p:origin x="-232" y="-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AA80-28C9-894C-A3AE-D73C82342257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8B7-1CBB-554F-9A4D-871FA93F4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3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AA80-28C9-894C-A3AE-D73C82342257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8B7-1CBB-554F-9A4D-871FA93F4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09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AA80-28C9-894C-A3AE-D73C82342257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8B7-1CBB-554F-9A4D-871FA93F4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4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AA80-28C9-894C-A3AE-D73C82342257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8B7-1CBB-554F-9A4D-871FA93F4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21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AA80-28C9-894C-A3AE-D73C82342257}" type="datetimeFigureOut">
              <a:rPr lang="en-US" smtClean="0"/>
              <a:t>7/29/25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8B7-1CBB-554F-9A4D-871FA93F4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72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AA80-28C9-894C-A3AE-D73C82342257}" type="datetimeFigureOut">
              <a:rPr lang="en-US" smtClean="0"/>
              <a:t>7/29/25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8B7-1CBB-554F-9A4D-871FA93F4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08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AA80-28C9-894C-A3AE-D73C82342257}" type="datetimeFigureOut">
              <a:rPr lang="en-US" smtClean="0"/>
              <a:t>7/29/25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8B7-1CBB-554F-9A4D-871FA93F4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93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AA80-28C9-894C-A3AE-D73C82342257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8B7-1CBB-554F-9A4D-871FA93F4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14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AA80-28C9-894C-A3AE-D73C82342257}" type="datetimeFigureOut">
              <a:rPr lang="en-US" smtClean="0"/>
              <a:t>7/29/25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8B7-1CBB-554F-9A4D-871FA93F4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92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AA80-28C9-894C-A3AE-D73C82342257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8B7-1CBB-554F-9A4D-871FA93F4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27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AA80-28C9-894C-A3AE-D73C82342257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8B7-1CBB-554F-9A4D-871FA93F4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41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21AA80-28C9-894C-A3AE-D73C82342257}" type="datetimeFigureOut">
              <a:rPr lang="en-US" smtClean="0"/>
              <a:t>7/29/25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0638B7-1CBB-554F-9A4D-871FA93F4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5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769A9E-32B4-DCFE-2FE3-E7E8527CD33A}"/>
              </a:ext>
            </a:extLst>
          </p:cNvPr>
          <p:cNvSpPr/>
          <p:nvPr/>
        </p:nvSpPr>
        <p:spPr>
          <a:xfrm>
            <a:off x="1850064" y="1148316"/>
            <a:ext cx="139286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SAbDab</a:t>
            </a:r>
            <a:r>
              <a:rPr lang="en-US" dirty="0"/>
              <a:t> Database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9BC207-9048-AFF8-7536-9226C09C95D2}"/>
              </a:ext>
            </a:extLst>
          </p:cNvPr>
          <p:cNvSpPr/>
          <p:nvPr/>
        </p:nvSpPr>
        <p:spPr>
          <a:xfrm>
            <a:off x="1850065" y="2476501"/>
            <a:ext cx="311888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Tuning</a:t>
            </a:r>
          </a:p>
          <a:p>
            <a:pPr algn="ctr"/>
            <a:r>
              <a:rPr lang="en-US" dirty="0"/>
              <a:t>(Microsoft Phi-4)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FA71D5C-BE67-0788-D3E7-270C3CF79823}"/>
              </a:ext>
            </a:extLst>
          </p:cNvPr>
          <p:cNvSpPr/>
          <p:nvPr/>
        </p:nvSpPr>
        <p:spPr>
          <a:xfrm>
            <a:off x="5302102" y="1148316"/>
            <a:ext cx="311888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Annotated Antigen Input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…FS[S][F][V]L[N]WYR…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45951C-D8E3-A996-A942-625F23ACB097}"/>
              </a:ext>
            </a:extLst>
          </p:cNvPr>
          <p:cNvSpPr/>
          <p:nvPr/>
        </p:nvSpPr>
        <p:spPr>
          <a:xfrm>
            <a:off x="5302102" y="2476501"/>
            <a:ext cx="3118884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Tokenizer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F72530-9B23-D595-09E8-4164D0C82594}"/>
              </a:ext>
            </a:extLst>
          </p:cNvPr>
          <p:cNvSpPr/>
          <p:nvPr/>
        </p:nvSpPr>
        <p:spPr>
          <a:xfrm>
            <a:off x="3576082" y="3921646"/>
            <a:ext cx="3118884" cy="5333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peleke-phi-4 Model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A7C1651-B693-18AB-F40B-861A24F4B029}"/>
              </a:ext>
            </a:extLst>
          </p:cNvPr>
          <p:cNvSpPr/>
          <p:nvPr/>
        </p:nvSpPr>
        <p:spPr>
          <a:xfrm>
            <a:off x="3576082" y="4792630"/>
            <a:ext cx="3118884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Antibody Output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QQVQLVESG…|DIVMTQSPL…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3B6B5C-1C56-4B3D-2119-779B7AA43645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6861544" y="2062716"/>
            <a:ext cx="0" cy="41378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BC01570D-4A81-C99E-AE63-A01199654116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16200000" flipH="1">
            <a:off x="4007143" y="2793264"/>
            <a:ext cx="530745" cy="1726017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B08A40B2-C487-0EC4-9361-BDBAE4E03B0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5400000">
            <a:off x="5733162" y="2793263"/>
            <a:ext cx="530745" cy="172602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F299307-EDC7-4A26-AEEE-2EF72F76C965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5135524" y="4455042"/>
            <a:ext cx="0" cy="33758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F28BC8B-1247-E994-34CF-290BDFD708F4}"/>
              </a:ext>
            </a:extLst>
          </p:cNvPr>
          <p:cNvSpPr/>
          <p:nvPr/>
        </p:nvSpPr>
        <p:spPr>
          <a:xfrm>
            <a:off x="3576082" y="1148316"/>
            <a:ext cx="1392866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 Data Bank</a:t>
            </a:r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122C76C6-AD81-473D-6A12-96808F861B31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3242928" y="1605516"/>
            <a:ext cx="166579" cy="870985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AB4CAC57-7E66-1774-E7C7-19E180485EE1}"/>
              </a:ext>
            </a:extLst>
          </p:cNvPr>
          <p:cNvCxnSpPr>
            <a:cxnSpLocks/>
            <a:stCxn id="39" idx="1"/>
            <a:endCxn id="5" idx="0"/>
          </p:cNvCxnSpPr>
          <p:nvPr/>
        </p:nvCxnSpPr>
        <p:spPr>
          <a:xfrm rot="10800000" flipV="1">
            <a:off x="3409508" y="1605515"/>
            <a:ext cx="166575" cy="870985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63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0596F1-408B-31AF-F045-A2CFC9B2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96;p5">
            <a:extLst>
              <a:ext uri="{FF2B5EF4-FFF2-40B4-BE49-F238E27FC236}">
                <a16:creationId xmlns:a16="http://schemas.microsoft.com/office/drawing/2014/main" id="{17F9E172-1E8A-459B-959C-A4030A46F7E1}"/>
              </a:ext>
            </a:extLst>
          </p:cNvPr>
          <p:cNvSpPr txBox="1"/>
          <p:nvPr/>
        </p:nvSpPr>
        <p:spPr>
          <a:xfrm>
            <a:off x="6096000" y="434713"/>
            <a:ext cx="5722708" cy="151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Oswald"/>
              <a:buNone/>
              <a:tabLst/>
              <a:defRPr/>
            </a:pPr>
            <a:r>
              <a:rPr kumimoji="0" lang="en-US" sz="4400" i="1" u="none" strike="noStrike" kern="0" cap="none" spc="0" normalizeH="0" baseline="0" noProof="0" dirty="0">
                <a:ln>
                  <a:noFill/>
                </a:ln>
                <a:solidFill>
                  <a:srgbClr val="A49665"/>
                </a:solidFill>
                <a:effectLst/>
                <a:uLnTx/>
                <a:uFillTx/>
                <a:latin typeface="Oswald" panose="00000500000000000000" pitchFamily="2" charset="0"/>
                <a:ea typeface="Oswald"/>
                <a:cs typeface="Oswald"/>
                <a:sym typeface="Oswald"/>
              </a:rPr>
              <a:t>peleke-1 Antibody Language Model</a:t>
            </a:r>
            <a:endParaRPr kumimoji="0" lang="en-US" sz="400" i="0" u="none" strike="noStrike" kern="0" cap="none" spc="0" normalizeH="0" baseline="0" noProof="0" dirty="0">
              <a:ln>
                <a:noFill/>
              </a:ln>
              <a:solidFill>
                <a:srgbClr val="A49665"/>
              </a:solidFill>
              <a:effectLst/>
              <a:uLnTx/>
              <a:uFillTx/>
              <a:latin typeface="Oswald" panose="00000500000000000000" pitchFamily="2" charset="0"/>
              <a:cs typeface="Arial"/>
              <a:sym typeface="Arial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CFD25EE-BAEB-AC91-D558-ACA02BF4D2AE}"/>
              </a:ext>
            </a:extLst>
          </p:cNvPr>
          <p:cNvSpPr/>
          <p:nvPr/>
        </p:nvSpPr>
        <p:spPr>
          <a:xfrm>
            <a:off x="1510896" y="1169714"/>
            <a:ext cx="1988764" cy="828946"/>
          </a:xfrm>
          <a:prstGeom prst="rect">
            <a:avLst/>
          </a:prstGeom>
          <a:solidFill>
            <a:srgbClr val="0173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SAbDab</a:t>
            </a:r>
            <a:r>
              <a:rPr lang="en-US" dirty="0"/>
              <a:t> Database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55E0B3E-0C58-B4CF-B2AC-E4CEC41E7601}"/>
              </a:ext>
            </a:extLst>
          </p:cNvPr>
          <p:cNvSpPr/>
          <p:nvPr/>
        </p:nvSpPr>
        <p:spPr>
          <a:xfrm>
            <a:off x="1510897" y="2589472"/>
            <a:ext cx="4453217" cy="1305602"/>
          </a:xfrm>
          <a:prstGeom prst="rect">
            <a:avLst/>
          </a:prstGeom>
          <a:solidFill>
            <a:srgbClr val="0050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Tuning</a:t>
            </a:r>
          </a:p>
          <a:p>
            <a:pPr algn="ctr"/>
            <a:r>
              <a:rPr lang="en-US" dirty="0"/>
              <a:t>(Microsoft Phi-4)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8924CB1-8752-04AC-D97E-CFB9155D555A}"/>
              </a:ext>
            </a:extLst>
          </p:cNvPr>
          <p:cNvSpPr/>
          <p:nvPr/>
        </p:nvSpPr>
        <p:spPr>
          <a:xfrm>
            <a:off x="6530886" y="2589471"/>
            <a:ext cx="4453217" cy="130560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A496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Annotated Antigen Input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…FS[S][F][V]L[N]WYR…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D604FBF-1A31-3C3F-3A61-B549FF1CB733}"/>
              </a:ext>
            </a:extLst>
          </p:cNvPr>
          <p:cNvSpPr/>
          <p:nvPr/>
        </p:nvSpPr>
        <p:spPr>
          <a:xfrm>
            <a:off x="6530886" y="4342942"/>
            <a:ext cx="4453217" cy="761594"/>
          </a:xfrm>
          <a:prstGeom prst="rect">
            <a:avLst/>
          </a:prstGeom>
          <a:solidFill>
            <a:srgbClr val="0050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Tokenizer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2984A1F-5D3A-2403-99F3-4BC7D461E10C}"/>
              </a:ext>
            </a:extLst>
          </p:cNvPr>
          <p:cNvSpPr/>
          <p:nvPr/>
        </p:nvSpPr>
        <p:spPr>
          <a:xfrm>
            <a:off x="1510896" y="4342941"/>
            <a:ext cx="4453217" cy="761595"/>
          </a:xfrm>
          <a:prstGeom prst="rect">
            <a:avLst/>
          </a:prstGeom>
          <a:solidFill>
            <a:srgbClr val="0050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peleke-phi-4 Model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B3037AC4-E82C-8068-DFCA-546A60FF6A99}"/>
              </a:ext>
            </a:extLst>
          </p:cNvPr>
          <p:cNvSpPr/>
          <p:nvPr/>
        </p:nvSpPr>
        <p:spPr>
          <a:xfrm>
            <a:off x="6530885" y="5552398"/>
            <a:ext cx="4453217" cy="1305602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A496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Targeted Antibody Output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QQVQLVESG…|DIVMTQSPL…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F212957-7990-070B-5826-E3983B569BA7}"/>
              </a:ext>
            </a:extLst>
          </p:cNvPr>
          <p:cNvCxnSpPr>
            <a:cxnSpLocks/>
            <a:stCxn id="49" idx="2"/>
            <a:endCxn id="50" idx="0"/>
          </p:cNvCxnSpPr>
          <p:nvPr/>
        </p:nvCxnSpPr>
        <p:spPr>
          <a:xfrm>
            <a:off x="8757495" y="3895073"/>
            <a:ext cx="0" cy="44787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3236D6AB-E349-012F-2658-A5F6ECC2077B}"/>
              </a:ext>
            </a:extLst>
          </p:cNvPr>
          <p:cNvCxnSpPr>
            <a:cxnSpLocks/>
            <a:stCxn id="48" idx="2"/>
            <a:endCxn id="51" idx="0"/>
          </p:cNvCxnSpPr>
          <p:nvPr/>
        </p:nvCxnSpPr>
        <p:spPr>
          <a:xfrm rot="5400000">
            <a:off x="3513573" y="4119007"/>
            <a:ext cx="447867" cy="1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72898641-BC12-8BAC-08FC-BAA3CA2893F8}"/>
              </a:ext>
            </a:extLst>
          </p:cNvPr>
          <p:cNvSpPr/>
          <p:nvPr/>
        </p:nvSpPr>
        <p:spPr>
          <a:xfrm>
            <a:off x="3975346" y="1169714"/>
            <a:ext cx="1988767" cy="828946"/>
          </a:xfrm>
          <a:prstGeom prst="rect">
            <a:avLst/>
          </a:prstGeom>
          <a:solidFill>
            <a:srgbClr val="0173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 Data Bank</a:t>
            </a:r>
          </a:p>
        </p:txBody>
      </p: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F0C3B51E-5B37-EF33-E055-A6BDE7E7A8B3}"/>
              </a:ext>
            </a:extLst>
          </p:cNvPr>
          <p:cNvCxnSpPr>
            <a:cxnSpLocks/>
            <a:stCxn id="47" idx="3"/>
            <a:endCxn id="48" idx="0"/>
          </p:cNvCxnSpPr>
          <p:nvPr/>
        </p:nvCxnSpPr>
        <p:spPr>
          <a:xfrm>
            <a:off x="3499660" y="1584187"/>
            <a:ext cx="237846" cy="1005285"/>
          </a:xfrm>
          <a:prstGeom prst="bentConnector2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2AFAE16F-993F-73D3-E558-EAF9AA012CA1}"/>
              </a:ext>
            </a:extLst>
          </p:cNvPr>
          <p:cNvCxnSpPr>
            <a:cxnSpLocks/>
            <a:stCxn id="55" idx="1"/>
            <a:endCxn id="48" idx="0"/>
          </p:cNvCxnSpPr>
          <p:nvPr/>
        </p:nvCxnSpPr>
        <p:spPr>
          <a:xfrm rot="10800000" flipV="1">
            <a:off x="3737506" y="1584186"/>
            <a:ext cx="237840" cy="1005285"/>
          </a:xfrm>
          <a:prstGeom prst="bentConnector2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5BC8B30-1D51-68D3-A846-9077447255C3}"/>
              </a:ext>
            </a:extLst>
          </p:cNvPr>
          <p:cNvCxnSpPr>
            <a:cxnSpLocks/>
            <a:stCxn id="50" idx="1"/>
            <a:endCxn id="51" idx="3"/>
          </p:cNvCxnSpPr>
          <p:nvPr/>
        </p:nvCxnSpPr>
        <p:spPr>
          <a:xfrm flipH="1" flipV="1">
            <a:off x="5964113" y="4723739"/>
            <a:ext cx="566773" cy="1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675651EE-5687-0D22-64EF-690437E68CF2}"/>
              </a:ext>
            </a:extLst>
          </p:cNvPr>
          <p:cNvSpPr/>
          <p:nvPr/>
        </p:nvSpPr>
        <p:spPr>
          <a:xfrm>
            <a:off x="1510895" y="5824402"/>
            <a:ext cx="4453217" cy="761594"/>
          </a:xfrm>
          <a:prstGeom prst="rect">
            <a:avLst/>
          </a:prstGeom>
          <a:solidFill>
            <a:srgbClr val="0050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Folding and PDB Generation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F1D6E4B-637F-739B-62A8-8225A0D7996C}"/>
              </a:ext>
            </a:extLst>
          </p:cNvPr>
          <p:cNvCxnSpPr>
            <a:cxnSpLocks/>
            <a:stCxn id="52" idx="1"/>
            <a:endCxn id="59" idx="3"/>
          </p:cNvCxnSpPr>
          <p:nvPr/>
        </p:nvCxnSpPr>
        <p:spPr>
          <a:xfrm flipH="1">
            <a:off x="5964112" y="6205199"/>
            <a:ext cx="566773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5D5F2A63-2B3A-F61D-A61A-480C7F8F2775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 rot="16200000" flipH="1">
            <a:off x="6023568" y="2818472"/>
            <a:ext cx="447862" cy="5019989"/>
          </a:xfrm>
          <a:prstGeom prst="bentConnector3">
            <a:avLst>
              <a:gd name="adj1" fmla="val 50000"/>
            </a:avLst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795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85</Words>
  <Application>Microsoft Macintosh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Consolas</vt:lpstr>
      <vt:lpstr>Oswald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Colby Ford</dc:creator>
  <cp:lastModifiedBy>Colby Ford</cp:lastModifiedBy>
  <cp:revision>3</cp:revision>
  <dcterms:created xsi:type="dcterms:W3CDTF">2025-07-29T13:20:49Z</dcterms:created>
  <dcterms:modified xsi:type="dcterms:W3CDTF">2025-07-29T15:43:52Z</dcterms:modified>
</cp:coreProperties>
</file>